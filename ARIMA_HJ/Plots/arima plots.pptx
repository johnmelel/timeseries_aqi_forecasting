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16" d="100"/>
          <a:sy n="116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E9489-16F8-8EFC-6F6E-EA64490A8B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186215-1A67-A8A9-C7A6-CE8F93AD90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FF1C7E-A78C-CE62-491B-711BAC793B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735A2E-A753-EA0D-970A-F00E62E35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EE3ADF-E35E-CC63-9E07-B0EDF78C9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362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F9F93-B428-68E4-9B03-C76C4E810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7FBD9D-562A-D1D3-A251-674C1B8B7A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11610C-2BF8-6FCC-FC41-9E1F8A05F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E1C401-90D3-157E-FF61-DE42C851D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87190E-35C7-0411-B26E-69358F902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485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6203B-752E-1C9B-6A35-A27C55A15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5A44D8-BF49-75B6-5041-E31FFCF450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386C1-6A4C-7B5D-3232-1346D9564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7D47D3-469D-3313-99EA-8352077EC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96CEED-33EE-87B5-7A19-2927EF496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5041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9005D-F381-2615-0993-AE25D5A1F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F7B98-A657-6714-F7AC-30C717A6A4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DA9907-D038-6925-CCAD-500D82BAE1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B8B45F-B355-5FD1-14F5-502DECE0BE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027A50-E6E4-D3F5-5A89-FE5DCFEC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FDBE2-0F34-71B8-BBB2-CA3413FCC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422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1BC8A-DA62-C299-321A-AD0F1B7947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3FA21E-E3F9-A6AB-5D72-641A1D40E5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B5A7BB-AD69-3D92-CFCD-DA9E6DFB51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0FBB26-32AC-C7A7-1EE2-CFEF2FBE9B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F909590-F5E4-1B83-F6C2-E0752F6245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69F8D0-D6C6-A1EB-97D7-39346B6A8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A48221-D061-76F6-A9D8-4429C1D53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4FC0CD7-20B6-867F-7458-32526B71A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3473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A7759-3BBD-6FB3-9248-79739E4A4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E739B6-2137-1453-D9AB-188F3F08D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84C68E-DCD8-7C79-EC4D-0F2241CAF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19A41B-E715-8817-D085-42D28E130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0993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3B43D6-BB05-4EF1-EB86-D88329BA8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3D90E6-DFBB-E037-EEE5-E3FA24DE9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626D12-BAC8-880F-C06B-749E3FF2C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121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ACC5F-0A7B-DE13-F683-7ED42426C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0BE4A1-8268-EE01-3BA9-D5DA1016DB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0C9AF2-5439-C7CB-5580-FCC82918E3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37C4B2-5AB7-D8D5-5B99-F7794A8A1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AE8C52-DDCB-AA01-D95F-45E35008C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016854-9CBF-A3B5-7121-1D45B1238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004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CA06F-E729-C02A-81B8-83514EF5A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9E0CAA-F5C9-5C1E-EBB6-534B140D17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C14FF7-58DB-F0A0-51AB-8E475F4A87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A71DC1-7097-7D38-382E-1B5D1829F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AE6807-585F-9D02-F1CD-003E1B5A8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D7BFC0-76F6-A076-E891-0E6D7CB49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4383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73DDE-7893-E115-23F7-56BC6EF44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CDD226-221C-4459-3E0E-56A8C85681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6D1956-BB29-EB94-F8AF-214C2A734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C0F79C-53C1-7135-5C39-D73F794245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944188-C42C-DD83-2BD4-89E900D78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974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38DA52-6A11-3D9C-30DC-2850363C35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7DAC3D-28AA-C576-F9A7-9E8814BE19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A4C9CD-E7A8-BA50-2389-1C9EAC942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DCB1C-7482-A248-B459-A59749D0D03F}" type="datetimeFigureOut">
              <a:rPr lang="en-US" smtClean="0"/>
              <a:t>3/12/25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352A0E-F769-EC12-0FE4-46A61A0FF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CC4E6B-65BB-2E3A-BA57-32FBB824B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48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058778-1778-0CC6-9455-37CBBFF80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01F7E6-9E94-D866-7315-9D1B2C259C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1329E-2118-7596-FE88-B38E1DE57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3DCB1C-7482-A248-B459-A59749D0D03F}" type="datetimeFigureOut">
              <a:rPr lang="en-US" smtClean="0"/>
              <a:t>3/12/25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A6F88-9BC1-A022-4C89-4B0CCB493E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6A7C8C-45B2-7261-9C41-0DAE1FFAB6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BC6ED6-CE86-0140-8FAD-366C8D736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8426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omparison of a diagram&#10;&#10;AI-generated content may be incorrect.">
            <a:extLst>
              <a:ext uri="{FF2B5EF4-FFF2-40B4-BE49-F238E27FC236}">
                <a16:creationId xmlns:a16="http://schemas.microsoft.com/office/drawing/2014/main" id="{FB911D55-CC42-5FAA-ED1F-F50005423F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621" y="1055235"/>
            <a:ext cx="7692757" cy="474753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528FA72-EE8C-2410-F9EB-7C44719E1138}"/>
              </a:ext>
            </a:extLst>
          </p:cNvPr>
          <p:cNvSpPr txBox="1"/>
          <p:nvPr/>
        </p:nvSpPr>
        <p:spPr>
          <a:xfrm>
            <a:off x="3105902" y="1224833"/>
            <a:ext cx="2545752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ACF Plot of Box-Cox Differenced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8777EA-2592-260B-7AB9-A45AE0AC71CF}"/>
              </a:ext>
            </a:extLst>
          </p:cNvPr>
          <p:cNvSpPr txBox="1"/>
          <p:nvPr/>
        </p:nvSpPr>
        <p:spPr>
          <a:xfrm>
            <a:off x="6959970" y="1224833"/>
            <a:ext cx="2545752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PACF Plot of Box-Cox Differenced Data</a:t>
            </a:r>
          </a:p>
        </p:txBody>
      </p:sp>
    </p:spTree>
    <p:extLst>
      <p:ext uri="{BB962C8B-B14F-4D97-AF65-F5344CB8AC3E}">
        <p14:creationId xmlns:p14="http://schemas.microsoft.com/office/powerpoint/2010/main" val="22296341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omparison of a normalized plot&#10;&#10;AI-generated content may be incorrect.">
            <a:extLst>
              <a:ext uri="{FF2B5EF4-FFF2-40B4-BE49-F238E27FC236}">
                <a16:creationId xmlns:a16="http://schemas.microsoft.com/office/drawing/2014/main" id="{6973AD75-26DD-862F-D035-C79C823832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1555" y="1099628"/>
            <a:ext cx="7548889" cy="465874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858F350-FEF6-18F7-F37A-F1D7E64A68E9}"/>
              </a:ext>
            </a:extLst>
          </p:cNvPr>
          <p:cNvSpPr txBox="1"/>
          <p:nvPr/>
        </p:nvSpPr>
        <p:spPr>
          <a:xfrm>
            <a:off x="3183020" y="1279917"/>
            <a:ext cx="2545752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ACF Plot of Seasonal Differenced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DBAF76-78F2-81A9-BDF5-A8F036DB1F0A}"/>
              </a:ext>
            </a:extLst>
          </p:cNvPr>
          <p:cNvSpPr txBox="1"/>
          <p:nvPr/>
        </p:nvSpPr>
        <p:spPr>
          <a:xfrm>
            <a:off x="6915902" y="1279916"/>
            <a:ext cx="2545752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PACF Plot of Seasonal Differenced Data</a:t>
            </a:r>
          </a:p>
        </p:txBody>
      </p:sp>
    </p:spTree>
    <p:extLst>
      <p:ext uri="{BB962C8B-B14F-4D97-AF65-F5344CB8AC3E}">
        <p14:creationId xmlns:p14="http://schemas.microsoft.com/office/powerpoint/2010/main" val="14500787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omparison of a graph&#10;&#10;AI-generated content may be incorrect.">
            <a:extLst>
              <a:ext uri="{FF2B5EF4-FFF2-40B4-BE49-F238E27FC236}">
                <a16:creationId xmlns:a16="http://schemas.microsoft.com/office/drawing/2014/main" id="{69D26E71-0263-FBBF-4349-2027507F2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2742" y="1112703"/>
            <a:ext cx="7506516" cy="46325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D14CFD4-1BA5-D9CE-85B0-8520FC3D871F}"/>
              </a:ext>
            </a:extLst>
          </p:cNvPr>
          <p:cNvSpPr txBox="1"/>
          <p:nvPr/>
        </p:nvSpPr>
        <p:spPr>
          <a:xfrm>
            <a:off x="3183020" y="1279917"/>
            <a:ext cx="2545752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ACF Plot of First-Order Differenced Data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826A44-C6F5-9C3F-B5CB-E453B6C91C3B}"/>
              </a:ext>
            </a:extLst>
          </p:cNvPr>
          <p:cNvSpPr txBox="1"/>
          <p:nvPr/>
        </p:nvSpPr>
        <p:spPr>
          <a:xfrm>
            <a:off x="6937936" y="1279916"/>
            <a:ext cx="2545752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PACF Plot of First-Order Differenced Data</a:t>
            </a:r>
          </a:p>
        </p:txBody>
      </p:sp>
    </p:spTree>
    <p:extLst>
      <p:ext uri="{BB962C8B-B14F-4D97-AF65-F5344CB8AC3E}">
        <p14:creationId xmlns:p14="http://schemas.microsoft.com/office/powerpoint/2010/main" val="1688088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DDD7DB12-0D29-821D-CBC5-AE627F679B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8904" y="488217"/>
            <a:ext cx="8234192" cy="5881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DED58CC-3520-E376-3EB5-238438C3D9B9}"/>
              </a:ext>
            </a:extLst>
          </p:cNvPr>
          <p:cNvSpPr txBox="1"/>
          <p:nvPr/>
        </p:nvSpPr>
        <p:spPr>
          <a:xfrm>
            <a:off x="3657600" y="727115"/>
            <a:ext cx="5253208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Residuals vs Fitted Plot of ARIMA First-Order Differenced Model</a:t>
            </a:r>
          </a:p>
        </p:txBody>
      </p:sp>
    </p:spTree>
    <p:extLst>
      <p:ext uri="{BB962C8B-B14F-4D97-AF65-F5344CB8AC3E}">
        <p14:creationId xmlns:p14="http://schemas.microsoft.com/office/powerpoint/2010/main" val="40378542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C799F018-31D5-FB70-F472-87B0F2C2F6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7546" y="487247"/>
            <a:ext cx="8236907" cy="58835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B1081CD-4620-0C0C-5EE1-C1973659F213}"/>
              </a:ext>
            </a:extLst>
          </p:cNvPr>
          <p:cNvSpPr txBox="1"/>
          <p:nvPr/>
        </p:nvSpPr>
        <p:spPr>
          <a:xfrm>
            <a:off x="3701666" y="727116"/>
            <a:ext cx="526606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Residuals vs Fitted Plot of SARIMA First-Order Differenced Model</a:t>
            </a:r>
          </a:p>
        </p:txBody>
      </p:sp>
    </p:spTree>
    <p:extLst>
      <p:ext uri="{BB962C8B-B14F-4D97-AF65-F5344CB8AC3E}">
        <p14:creationId xmlns:p14="http://schemas.microsoft.com/office/powerpoint/2010/main" val="6297922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B943A0F4-0C7A-3887-78C7-5631D9FA2E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8905" y="488218"/>
            <a:ext cx="8234190" cy="5881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A30CFC-C98E-639D-771A-8A42A3F4BFEA}"/>
              </a:ext>
            </a:extLst>
          </p:cNvPr>
          <p:cNvSpPr txBox="1"/>
          <p:nvPr/>
        </p:nvSpPr>
        <p:spPr>
          <a:xfrm>
            <a:off x="3701666" y="727116"/>
            <a:ext cx="526606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Residuals vs Fitted Plot of ARFIMA First-Order Differenced Model</a:t>
            </a:r>
          </a:p>
        </p:txBody>
      </p:sp>
    </p:spTree>
    <p:extLst>
      <p:ext uri="{BB962C8B-B14F-4D97-AF65-F5344CB8AC3E}">
        <p14:creationId xmlns:p14="http://schemas.microsoft.com/office/powerpoint/2010/main" val="4045099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33E8A850-08DD-C7B0-69A2-2FD3719C25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5093" y="342638"/>
            <a:ext cx="8641814" cy="6172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5900C0-F9D0-1674-B18B-33945C16C404}"/>
              </a:ext>
            </a:extLst>
          </p:cNvPr>
          <p:cNvSpPr txBox="1"/>
          <p:nvPr/>
        </p:nvSpPr>
        <p:spPr>
          <a:xfrm>
            <a:off x="3580481" y="616948"/>
            <a:ext cx="526606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Residuals vs Fitted Plot of ARIMA Box-Cox Differenced Model</a:t>
            </a:r>
          </a:p>
        </p:txBody>
      </p:sp>
    </p:spTree>
    <p:extLst>
      <p:ext uri="{BB962C8B-B14F-4D97-AF65-F5344CB8AC3E}">
        <p14:creationId xmlns:p14="http://schemas.microsoft.com/office/powerpoint/2010/main" val="6369491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FF2B5EF4-FFF2-40B4-BE49-F238E27FC236}">
                <a16:creationId xmlns:a16="http://schemas.microsoft.com/office/drawing/2014/main" id="{31FAB0AF-A93C-B09A-F44E-13C4729567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6453" y="443609"/>
            <a:ext cx="8359093" cy="5970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33A3B0A-FD5A-DF26-7500-29A53F3C444F}"/>
              </a:ext>
            </a:extLst>
          </p:cNvPr>
          <p:cNvSpPr txBox="1"/>
          <p:nvPr/>
        </p:nvSpPr>
        <p:spPr>
          <a:xfrm>
            <a:off x="3635566" y="672033"/>
            <a:ext cx="526606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Residuals vs Fitted Plot of SARIMA Box-Cox Differenced Model</a:t>
            </a:r>
          </a:p>
        </p:txBody>
      </p:sp>
    </p:spTree>
    <p:extLst>
      <p:ext uri="{BB962C8B-B14F-4D97-AF65-F5344CB8AC3E}">
        <p14:creationId xmlns:p14="http://schemas.microsoft.com/office/powerpoint/2010/main" val="6432770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>
            <a:extLst>
              <a:ext uri="{FF2B5EF4-FFF2-40B4-BE49-F238E27FC236}">
                <a16:creationId xmlns:a16="http://schemas.microsoft.com/office/drawing/2014/main" id="{4BF1E90C-C431-8FCD-E701-4AF66E2FE5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3913" y="527509"/>
            <a:ext cx="8124173" cy="5802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B8554EF-6CAB-D320-EDD6-3F5FF69E2842}"/>
              </a:ext>
            </a:extLst>
          </p:cNvPr>
          <p:cNvSpPr txBox="1"/>
          <p:nvPr/>
        </p:nvSpPr>
        <p:spPr>
          <a:xfrm>
            <a:off x="3701666" y="727116"/>
            <a:ext cx="5266063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Residuals vs Fitted Plot of ARFIMA Box-Cox Differenced Model</a:t>
            </a:r>
          </a:p>
        </p:txBody>
      </p:sp>
    </p:spTree>
    <p:extLst>
      <p:ext uri="{BB962C8B-B14F-4D97-AF65-F5344CB8AC3E}">
        <p14:creationId xmlns:p14="http://schemas.microsoft.com/office/powerpoint/2010/main" val="505314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>
            <a:extLst>
              <a:ext uri="{FF2B5EF4-FFF2-40B4-BE49-F238E27FC236}">
                <a16:creationId xmlns:a16="http://schemas.microsoft.com/office/drawing/2014/main" id="{0A6A9693-94A4-AA4F-E9E9-F85DAE9FE1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2803" y="441002"/>
            <a:ext cx="8366393" cy="5975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F2B8E18-3E3F-6C80-AF75-533B8C25C1CA}"/>
              </a:ext>
            </a:extLst>
          </p:cNvPr>
          <p:cNvSpPr txBox="1"/>
          <p:nvPr/>
        </p:nvSpPr>
        <p:spPr>
          <a:xfrm>
            <a:off x="3657600" y="727115"/>
            <a:ext cx="5253208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Residuals vs Fitted Plot of ARIMA Seasonal Differenced Model</a:t>
            </a:r>
          </a:p>
        </p:txBody>
      </p:sp>
    </p:spTree>
    <p:extLst>
      <p:ext uri="{BB962C8B-B14F-4D97-AF65-F5344CB8AC3E}">
        <p14:creationId xmlns:p14="http://schemas.microsoft.com/office/powerpoint/2010/main" val="37742562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>
            <a:extLst>
              <a:ext uri="{FF2B5EF4-FFF2-40B4-BE49-F238E27FC236}">
                <a16:creationId xmlns:a16="http://schemas.microsoft.com/office/drawing/2014/main" id="{5D04B678-2B9A-E26D-9AA0-C7DF12039F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8312" y="444937"/>
            <a:ext cx="8355376" cy="5968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8D9B8E1-20B2-EB4C-C744-DED24513FEE4}"/>
              </a:ext>
            </a:extLst>
          </p:cNvPr>
          <p:cNvSpPr txBox="1"/>
          <p:nvPr/>
        </p:nvSpPr>
        <p:spPr>
          <a:xfrm>
            <a:off x="3657600" y="727115"/>
            <a:ext cx="5253208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Residuals vs Fitted Plot of SARIMA Seasonal Differenced Model</a:t>
            </a:r>
          </a:p>
        </p:txBody>
      </p:sp>
    </p:spTree>
    <p:extLst>
      <p:ext uri="{BB962C8B-B14F-4D97-AF65-F5344CB8AC3E}">
        <p14:creationId xmlns:p14="http://schemas.microsoft.com/office/powerpoint/2010/main" val="22716137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>
            <a:extLst>
              <a:ext uri="{FF2B5EF4-FFF2-40B4-BE49-F238E27FC236}">
                <a16:creationId xmlns:a16="http://schemas.microsoft.com/office/drawing/2014/main" id="{DE6DCF57-BBA3-A850-570A-ACC79D967E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6211" y="407722"/>
            <a:ext cx="8459578" cy="6042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E430AD4-27CC-810B-2649-6759E39477A5}"/>
              </a:ext>
            </a:extLst>
          </p:cNvPr>
          <p:cNvSpPr txBox="1"/>
          <p:nvPr/>
        </p:nvSpPr>
        <p:spPr>
          <a:xfrm>
            <a:off x="3657600" y="727115"/>
            <a:ext cx="5253208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Residuals vs Fitted Plot of ARFIMA Seasonal Differenced Model</a:t>
            </a:r>
          </a:p>
        </p:txBody>
      </p:sp>
    </p:spTree>
    <p:extLst>
      <p:ext uri="{BB962C8B-B14F-4D97-AF65-F5344CB8AC3E}">
        <p14:creationId xmlns:p14="http://schemas.microsoft.com/office/powerpoint/2010/main" val="32564974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>
            <a:extLst>
              <a:ext uri="{FF2B5EF4-FFF2-40B4-BE49-F238E27FC236}">
                <a16:creationId xmlns:a16="http://schemas.microsoft.com/office/drawing/2014/main" id="{221870AD-8730-BE71-9DFB-B656C39E89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6109" y="350507"/>
            <a:ext cx="8619781" cy="6156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5304E5F-24B6-BCB8-6C67-832688BEBB28}"/>
              </a:ext>
            </a:extLst>
          </p:cNvPr>
          <p:cNvSpPr txBox="1"/>
          <p:nvPr/>
        </p:nvSpPr>
        <p:spPr>
          <a:xfrm>
            <a:off x="3469395" y="727114"/>
            <a:ext cx="525320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ARIMA First-Order Difference Forecast</a:t>
            </a:r>
          </a:p>
        </p:txBody>
      </p:sp>
    </p:spTree>
    <p:extLst>
      <p:ext uri="{BB962C8B-B14F-4D97-AF65-F5344CB8AC3E}">
        <p14:creationId xmlns:p14="http://schemas.microsoft.com/office/powerpoint/2010/main" val="5969997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Picture 2">
            <a:extLst>
              <a:ext uri="{FF2B5EF4-FFF2-40B4-BE49-F238E27FC236}">
                <a16:creationId xmlns:a16="http://schemas.microsoft.com/office/drawing/2014/main" id="{685B505E-CE05-F800-FA10-9E5087E131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6858" y="436756"/>
            <a:ext cx="8378283" cy="5984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6D8B704-6CB1-E7C5-B709-60D84FDC81BE}"/>
              </a:ext>
            </a:extLst>
          </p:cNvPr>
          <p:cNvSpPr txBox="1"/>
          <p:nvPr/>
        </p:nvSpPr>
        <p:spPr>
          <a:xfrm>
            <a:off x="3888036" y="793214"/>
            <a:ext cx="471613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SARIMA First-Order Difference Forecast</a:t>
            </a:r>
          </a:p>
        </p:txBody>
      </p:sp>
    </p:spTree>
    <p:extLst>
      <p:ext uri="{BB962C8B-B14F-4D97-AF65-F5344CB8AC3E}">
        <p14:creationId xmlns:p14="http://schemas.microsoft.com/office/powerpoint/2010/main" val="41372663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>
            <a:extLst>
              <a:ext uri="{FF2B5EF4-FFF2-40B4-BE49-F238E27FC236}">
                <a16:creationId xmlns:a16="http://schemas.microsoft.com/office/drawing/2014/main" id="{DF68EDEA-B97D-ADD5-631A-381D48718D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7040" y="551171"/>
            <a:ext cx="8057920" cy="5755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B544801-4BB1-E26D-D125-148C5DB49AAC}"/>
              </a:ext>
            </a:extLst>
          </p:cNvPr>
          <p:cNvSpPr txBox="1"/>
          <p:nvPr/>
        </p:nvSpPr>
        <p:spPr>
          <a:xfrm>
            <a:off x="4009221" y="859316"/>
            <a:ext cx="471613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ARFIMA First-Order Difference Forecast</a:t>
            </a:r>
          </a:p>
        </p:txBody>
      </p:sp>
    </p:spTree>
    <p:extLst>
      <p:ext uri="{BB962C8B-B14F-4D97-AF65-F5344CB8AC3E}">
        <p14:creationId xmlns:p14="http://schemas.microsoft.com/office/powerpoint/2010/main" val="42731548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4" name="Picture 2">
            <a:extLst>
              <a:ext uri="{FF2B5EF4-FFF2-40B4-BE49-F238E27FC236}">
                <a16:creationId xmlns:a16="http://schemas.microsoft.com/office/drawing/2014/main" id="{7112CDB2-14A3-FAC9-AFE0-1D02C28EE7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0177" y="381983"/>
            <a:ext cx="8531646" cy="6094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5D16ED7-77AE-E652-3EDB-D3B2EE9933E3}"/>
              </a:ext>
            </a:extLst>
          </p:cNvPr>
          <p:cNvSpPr txBox="1"/>
          <p:nvPr/>
        </p:nvSpPr>
        <p:spPr>
          <a:xfrm>
            <a:off x="3998205" y="771181"/>
            <a:ext cx="471613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ARIMA Box-Cox Differenced Forecast</a:t>
            </a:r>
          </a:p>
        </p:txBody>
      </p:sp>
    </p:spTree>
    <p:extLst>
      <p:ext uri="{BB962C8B-B14F-4D97-AF65-F5344CB8AC3E}">
        <p14:creationId xmlns:p14="http://schemas.microsoft.com/office/powerpoint/2010/main" val="21585223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38" name="Picture 2">
            <a:extLst>
              <a:ext uri="{FF2B5EF4-FFF2-40B4-BE49-F238E27FC236}">
                <a16:creationId xmlns:a16="http://schemas.microsoft.com/office/drawing/2014/main" id="{45B72552-E9A7-B289-AD36-2C0D594E63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1194" y="389853"/>
            <a:ext cx="8509612" cy="6078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BA1A8A9-C845-B2AA-B9E6-9734149DEE65}"/>
              </a:ext>
            </a:extLst>
          </p:cNvPr>
          <p:cNvSpPr txBox="1"/>
          <p:nvPr/>
        </p:nvSpPr>
        <p:spPr>
          <a:xfrm>
            <a:off x="3998205" y="771181"/>
            <a:ext cx="471613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SARIMA Box-Cox Differenced Forecast</a:t>
            </a:r>
          </a:p>
        </p:txBody>
      </p:sp>
    </p:spTree>
    <p:extLst>
      <p:ext uri="{BB962C8B-B14F-4D97-AF65-F5344CB8AC3E}">
        <p14:creationId xmlns:p14="http://schemas.microsoft.com/office/powerpoint/2010/main" val="10037711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2" name="Picture 2">
            <a:extLst>
              <a:ext uri="{FF2B5EF4-FFF2-40B4-BE49-F238E27FC236}">
                <a16:creationId xmlns:a16="http://schemas.microsoft.com/office/drawing/2014/main" id="{8C6482A5-45DC-9860-7CF9-B3B755FE07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4668" y="378049"/>
            <a:ext cx="8542663" cy="6101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BCDDEA4-0447-8955-6AAD-D8E5519A041A}"/>
              </a:ext>
            </a:extLst>
          </p:cNvPr>
          <p:cNvSpPr txBox="1"/>
          <p:nvPr/>
        </p:nvSpPr>
        <p:spPr>
          <a:xfrm>
            <a:off x="3998205" y="771181"/>
            <a:ext cx="471613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ARFIMA Box-Cox Differenced Forecast</a:t>
            </a:r>
          </a:p>
        </p:txBody>
      </p:sp>
    </p:spTree>
    <p:extLst>
      <p:ext uri="{BB962C8B-B14F-4D97-AF65-F5344CB8AC3E}">
        <p14:creationId xmlns:p14="http://schemas.microsoft.com/office/powerpoint/2010/main" val="7142455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86" name="Picture 2">
            <a:extLst>
              <a:ext uri="{FF2B5EF4-FFF2-40B4-BE49-F238E27FC236}">
                <a16:creationId xmlns:a16="http://schemas.microsoft.com/office/drawing/2014/main" id="{FB14D1B3-C335-9E66-B383-B00F5EAEA7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1531" y="547237"/>
            <a:ext cx="8068937" cy="5763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8163A2E-D725-A3E4-A86A-967C26AB8CBB}"/>
              </a:ext>
            </a:extLst>
          </p:cNvPr>
          <p:cNvSpPr txBox="1"/>
          <p:nvPr/>
        </p:nvSpPr>
        <p:spPr>
          <a:xfrm>
            <a:off x="3998205" y="870333"/>
            <a:ext cx="471613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ARIMA Seasonal Differenced Forecast</a:t>
            </a:r>
          </a:p>
        </p:txBody>
      </p:sp>
    </p:spTree>
    <p:extLst>
      <p:ext uri="{BB962C8B-B14F-4D97-AF65-F5344CB8AC3E}">
        <p14:creationId xmlns:p14="http://schemas.microsoft.com/office/powerpoint/2010/main" val="10391290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>
            <a:extLst>
              <a:ext uri="{FF2B5EF4-FFF2-40B4-BE49-F238E27FC236}">
                <a16:creationId xmlns:a16="http://schemas.microsoft.com/office/drawing/2014/main" id="{7BD6424A-7755-49CD-E651-D9C8CAFCD6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7719" y="401657"/>
            <a:ext cx="8476561" cy="60546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A4DE886-129B-86B3-9330-B720EE47CE9B}"/>
              </a:ext>
            </a:extLst>
          </p:cNvPr>
          <p:cNvSpPr txBox="1"/>
          <p:nvPr/>
        </p:nvSpPr>
        <p:spPr>
          <a:xfrm>
            <a:off x="3998205" y="782198"/>
            <a:ext cx="471613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SARIMA Seasonal Differenced Forecast</a:t>
            </a:r>
          </a:p>
        </p:txBody>
      </p:sp>
    </p:spTree>
    <p:extLst>
      <p:ext uri="{BB962C8B-B14F-4D97-AF65-F5344CB8AC3E}">
        <p14:creationId xmlns:p14="http://schemas.microsoft.com/office/powerpoint/2010/main" val="5738765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>
            <a:extLst>
              <a:ext uri="{FF2B5EF4-FFF2-40B4-BE49-F238E27FC236}">
                <a16:creationId xmlns:a16="http://schemas.microsoft.com/office/drawing/2014/main" id="{9D3FFBB3-9753-67DC-B43C-FD8CE4D463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5854" y="464610"/>
            <a:ext cx="8300292" cy="5928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FB7C4A3-DB51-5219-0AFE-3125B199AE35}"/>
              </a:ext>
            </a:extLst>
          </p:cNvPr>
          <p:cNvSpPr txBox="1"/>
          <p:nvPr/>
        </p:nvSpPr>
        <p:spPr>
          <a:xfrm>
            <a:off x="3998205" y="782198"/>
            <a:ext cx="471613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ARFIMA Seasonal Differenced Forecast</a:t>
            </a:r>
          </a:p>
        </p:txBody>
      </p:sp>
    </p:spTree>
    <p:extLst>
      <p:ext uri="{BB962C8B-B14F-4D97-AF65-F5344CB8AC3E}">
        <p14:creationId xmlns:p14="http://schemas.microsoft.com/office/powerpoint/2010/main" val="34606411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153</Words>
  <Application>Microsoft Macintosh PowerPoint</Application>
  <PresentationFormat>Widescreen</PresentationFormat>
  <Paragraphs>24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 Chaker</dc:creator>
  <cp:lastModifiedBy>Sara Chaker</cp:lastModifiedBy>
  <cp:revision>1</cp:revision>
  <dcterms:created xsi:type="dcterms:W3CDTF">2025-03-13T03:06:58Z</dcterms:created>
  <dcterms:modified xsi:type="dcterms:W3CDTF">2025-03-13T03:47:44Z</dcterms:modified>
</cp:coreProperties>
</file>