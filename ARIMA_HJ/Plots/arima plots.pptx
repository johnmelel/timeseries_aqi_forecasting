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</p:sldIdLst>
  <p:sldSz cx="16216313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00" d="100"/>
          <a:sy n="100" d="100"/>
        </p:scale>
        <p:origin x="184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27039" y="1122363"/>
            <a:ext cx="12162235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7039" y="3602038"/>
            <a:ext cx="12162235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806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027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6" y="1709738"/>
            <a:ext cx="1398657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6426" y="4589464"/>
            <a:ext cx="1398657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440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4872" y="1825625"/>
            <a:ext cx="6891933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09508" y="1825625"/>
            <a:ext cx="6891933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378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6984" y="365126"/>
            <a:ext cx="1398657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6984" y="1681163"/>
            <a:ext cx="686026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6984" y="2505075"/>
            <a:ext cx="686026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09509" y="1681163"/>
            <a:ext cx="689404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09509" y="2505075"/>
            <a:ext cx="6894045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115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1033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383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6984" y="457200"/>
            <a:ext cx="523018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4045" y="987426"/>
            <a:ext cx="8209508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6984" y="2057400"/>
            <a:ext cx="523018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2625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6984" y="457200"/>
            <a:ext cx="523018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94045" y="987426"/>
            <a:ext cx="8209508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6984" y="2057400"/>
            <a:ext cx="523018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816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6797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604799" y="365125"/>
            <a:ext cx="3496642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4871" y="365125"/>
            <a:ext cx="10287224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524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4872" y="365126"/>
            <a:ext cx="1398657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4872" y="1825625"/>
            <a:ext cx="1398657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4872" y="6356351"/>
            <a:ext cx="36486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3DCB1C-7482-A248-B459-A59749D0D03F}" type="datetimeFigureOut">
              <a:rPr lang="en-US" smtClean="0"/>
              <a:t>3/13/25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71654" y="6356351"/>
            <a:ext cx="54730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52771" y="6356351"/>
            <a:ext cx="36486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3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mparison of a diagram&#10;&#10;AI-generated content may be incorrect.">
            <a:extLst>
              <a:ext uri="{FF2B5EF4-FFF2-40B4-BE49-F238E27FC236}">
                <a16:creationId xmlns:a16="http://schemas.microsoft.com/office/drawing/2014/main" id="{FB911D55-CC42-5FAA-ED1F-F50005423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779" y="1055235"/>
            <a:ext cx="7692757" cy="47475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528FA72-EE8C-2410-F9EB-7C44719E1138}"/>
              </a:ext>
            </a:extLst>
          </p:cNvPr>
          <p:cNvSpPr txBox="1"/>
          <p:nvPr/>
        </p:nvSpPr>
        <p:spPr>
          <a:xfrm>
            <a:off x="5118058" y="1224835"/>
            <a:ext cx="2545752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ACF Plot of Box-Cox Differenced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8777EA-2592-260B-7AB9-A45AE0AC71CF}"/>
              </a:ext>
            </a:extLst>
          </p:cNvPr>
          <p:cNvSpPr txBox="1"/>
          <p:nvPr/>
        </p:nvSpPr>
        <p:spPr>
          <a:xfrm>
            <a:off x="8972126" y="1224835"/>
            <a:ext cx="2545752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PACF Plot of Box-Cox Differenced Data</a:t>
            </a:r>
          </a:p>
        </p:txBody>
      </p:sp>
    </p:spTree>
    <p:extLst>
      <p:ext uri="{BB962C8B-B14F-4D97-AF65-F5344CB8AC3E}">
        <p14:creationId xmlns:p14="http://schemas.microsoft.com/office/powerpoint/2010/main" val="2229634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omparison of a normalized plot&#10;&#10;AI-generated content may be incorrect.">
            <a:extLst>
              <a:ext uri="{FF2B5EF4-FFF2-40B4-BE49-F238E27FC236}">
                <a16:creationId xmlns:a16="http://schemas.microsoft.com/office/drawing/2014/main" id="{6973AD75-26DD-862F-D035-C79C823832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713" y="1099630"/>
            <a:ext cx="7548889" cy="465874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858F350-FEF6-18F7-F37A-F1D7E64A68E9}"/>
              </a:ext>
            </a:extLst>
          </p:cNvPr>
          <p:cNvSpPr txBox="1"/>
          <p:nvPr/>
        </p:nvSpPr>
        <p:spPr>
          <a:xfrm>
            <a:off x="5195176" y="1279919"/>
            <a:ext cx="2545752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ACF Plot of Seasonal Differenced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DBAF76-78F2-81A9-BDF5-A8F036DB1F0A}"/>
              </a:ext>
            </a:extLst>
          </p:cNvPr>
          <p:cNvSpPr txBox="1"/>
          <p:nvPr/>
        </p:nvSpPr>
        <p:spPr>
          <a:xfrm>
            <a:off x="8928058" y="1279918"/>
            <a:ext cx="2545752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PACF Plot of Seasonal Differenced Data</a:t>
            </a:r>
          </a:p>
        </p:txBody>
      </p:sp>
    </p:spTree>
    <p:extLst>
      <p:ext uri="{BB962C8B-B14F-4D97-AF65-F5344CB8AC3E}">
        <p14:creationId xmlns:p14="http://schemas.microsoft.com/office/powerpoint/2010/main" val="14500787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omparison of a graph&#10;&#10;AI-generated content may be incorrect.">
            <a:extLst>
              <a:ext uri="{FF2B5EF4-FFF2-40B4-BE49-F238E27FC236}">
                <a16:creationId xmlns:a16="http://schemas.microsoft.com/office/drawing/2014/main" id="{69D26E71-0263-FBBF-4349-2027507F2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898" y="1112705"/>
            <a:ext cx="7506516" cy="46325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14CFD4-1BA5-D9CE-85B0-8520FC3D871F}"/>
              </a:ext>
            </a:extLst>
          </p:cNvPr>
          <p:cNvSpPr txBox="1"/>
          <p:nvPr/>
        </p:nvSpPr>
        <p:spPr>
          <a:xfrm>
            <a:off x="5195176" y="1279919"/>
            <a:ext cx="2545752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ACF Plot of First-Order Differenced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826A44-C6F5-9C3F-B5CB-E453B6C91C3B}"/>
              </a:ext>
            </a:extLst>
          </p:cNvPr>
          <p:cNvSpPr txBox="1"/>
          <p:nvPr/>
        </p:nvSpPr>
        <p:spPr>
          <a:xfrm>
            <a:off x="8950092" y="1279918"/>
            <a:ext cx="2545752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PACF Plot of First-Order Differenced Data</a:t>
            </a:r>
          </a:p>
        </p:txBody>
      </p:sp>
    </p:spTree>
    <p:extLst>
      <p:ext uri="{BB962C8B-B14F-4D97-AF65-F5344CB8AC3E}">
        <p14:creationId xmlns:p14="http://schemas.microsoft.com/office/powerpoint/2010/main" val="1688088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DDD7DB12-0D29-821D-CBC5-AE627F679B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262" y="1745157"/>
            <a:ext cx="4714760" cy="33676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DED58CC-3520-E376-3EB5-238438C3D9B9}"/>
              </a:ext>
            </a:extLst>
          </p:cNvPr>
          <p:cNvSpPr txBox="1"/>
          <p:nvPr/>
        </p:nvSpPr>
        <p:spPr>
          <a:xfrm>
            <a:off x="1981515" y="1745159"/>
            <a:ext cx="278471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ARIMA First-Order Differenced Model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F051B6-B5C2-4651-ED96-7285E851E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4488" y="1745156"/>
            <a:ext cx="4590676" cy="3279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54C6099-F899-1EF3-0F86-96B66FB48F90}"/>
              </a:ext>
            </a:extLst>
          </p:cNvPr>
          <p:cNvSpPr txBox="1"/>
          <p:nvPr/>
        </p:nvSpPr>
        <p:spPr>
          <a:xfrm>
            <a:off x="6223751" y="1749650"/>
            <a:ext cx="3194892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ARIMA Box-Cox Differenced Model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C5AF0C70-822E-733E-FACF-C8E8218DF9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98629" y="1789473"/>
            <a:ext cx="4590676" cy="3279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4397CC1-DE55-F8B4-1B87-9BF0B56D3A7D}"/>
              </a:ext>
            </a:extLst>
          </p:cNvPr>
          <p:cNvSpPr txBox="1"/>
          <p:nvPr/>
        </p:nvSpPr>
        <p:spPr>
          <a:xfrm>
            <a:off x="10929133" y="1745157"/>
            <a:ext cx="302038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ARIMA Seasonal Differenced Model</a:t>
            </a:r>
          </a:p>
        </p:txBody>
      </p:sp>
    </p:spTree>
    <p:extLst>
      <p:ext uri="{BB962C8B-B14F-4D97-AF65-F5344CB8AC3E}">
        <p14:creationId xmlns:p14="http://schemas.microsoft.com/office/powerpoint/2010/main" val="40378542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C799F018-31D5-FB70-F472-87B0F2C2F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895" y="1709730"/>
            <a:ext cx="4988689" cy="3563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B1081CD-4620-0C0C-5EE1-C1973659F213}"/>
              </a:ext>
            </a:extLst>
          </p:cNvPr>
          <p:cNvSpPr txBox="1"/>
          <p:nvPr/>
        </p:nvSpPr>
        <p:spPr>
          <a:xfrm>
            <a:off x="1856715" y="1709730"/>
            <a:ext cx="3189395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SARIMA First-Order Differenced Model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0BE9E13-7D1E-D5C4-BA2A-7F73967382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1828" y="1709730"/>
            <a:ext cx="4988689" cy="3563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FA80158-2E60-ABE8-D707-2D999F59A858}"/>
              </a:ext>
            </a:extLst>
          </p:cNvPr>
          <p:cNvSpPr txBox="1"/>
          <p:nvPr/>
        </p:nvSpPr>
        <p:spPr>
          <a:xfrm>
            <a:off x="6685647" y="1709730"/>
            <a:ext cx="3308226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SARIMA Box-Cox Differenced Model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93A3F20C-DA49-0492-05E6-219880FEDD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5787" y="1709730"/>
            <a:ext cx="4988688" cy="3563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FE91A5D-BEB5-62FC-8D58-B4B4B21D2759}"/>
              </a:ext>
            </a:extLst>
          </p:cNvPr>
          <p:cNvSpPr txBox="1"/>
          <p:nvPr/>
        </p:nvSpPr>
        <p:spPr>
          <a:xfrm>
            <a:off x="11514581" y="1709730"/>
            <a:ext cx="3133497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SARIMA Seasonal Differenced Model</a:t>
            </a:r>
          </a:p>
        </p:txBody>
      </p:sp>
    </p:spTree>
    <p:extLst>
      <p:ext uri="{BB962C8B-B14F-4D97-AF65-F5344CB8AC3E}">
        <p14:creationId xmlns:p14="http://schemas.microsoft.com/office/powerpoint/2010/main" val="6297922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B943A0F4-0C7A-3887-78C7-5631D9FA2E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837" y="1597827"/>
            <a:ext cx="5127286" cy="3662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A30CFC-C98E-639D-771A-8A42A3F4BFEA}"/>
              </a:ext>
            </a:extLst>
          </p:cNvPr>
          <p:cNvSpPr txBox="1"/>
          <p:nvPr/>
        </p:nvSpPr>
        <p:spPr>
          <a:xfrm>
            <a:off x="1884568" y="1633071"/>
            <a:ext cx="306595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ARFIMA First-Order Differenced Model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16EE7962-3FA2-BE83-18BE-43A8F85861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8729" y="1633070"/>
            <a:ext cx="5127285" cy="3662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1E1F04-DEDE-A8B8-2004-470947A4E8F1}"/>
              </a:ext>
            </a:extLst>
          </p:cNvPr>
          <p:cNvSpPr txBox="1"/>
          <p:nvPr/>
        </p:nvSpPr>
        <p:spPr>
          <a:xfrm>
            <a:off x="6593667" y="1634111"/>
            <a:ext cx="3456215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SARIMA Seasonal Differenced Model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B8243183-B8D1-B21B-47B1-7998698180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5619" y="1597827"/>
            <a:ext cx="5127285" cy="3662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37E11F-F2CB-7375-9AA8-850A279A7AFB}"/>
              </a:ext>
            </a:extLst>
          </p:cNvPr>
          <p:cNvSpPr txBox="1"/>
          <p:nvPr/>
        </p:nvSpPr>
        <p:spPr>
          <a:xfrm>
            <a:off x="11636744" y="1633070"/>
            <a:ext cx="3374656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ARFIMA Seasonal Differenced Model</a:t>
            </a:r>
          </a:p>
        </p:txBody>
      </p:sp>
    </p:spTree>
    <p:extLst>
      <p:ext uri="{BB962C8B-B14F-4D97-AF65-F5344CB8AC3E}">
        <p14:creationId xmlns:p14="http://schemas.microsoft.com/office/powerpoint/2010/main" val="4045099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33E8A850-08DD-C7B0-69A2-2FD3719C2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7249" y="342638"/>
            <a:ext cx="8641814" cy="6172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5900C0-F9D0-1674-B18B-33945C16C404}"/>
              </a:ext>
            </a:extLst>
          </p:cNvPr>
          <p:cNvSpPr txBox="1"/>
          <p:nvPr/>
        </p:nvSpPr>
        <p:spPr>
          <a:xfrm>
            <a:off x="5592639" y="616950"/>
            <a:ext cx="526606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ARIMA Box-Cox Differenced Model</a:t>
            </a:r>
          </a:p>
        </p:txBody>
      </p:sp>
    </p:spTree>
    <p:extLst>
      <p:ext uri="{BB962C8B-B14F-4D97-AF65-F5344CB8AC3E}">
        <p14:creationId xmlns:p14="http://schemas.microsoft.com/office/powerpoint/2010/main" val="636949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31FAB0AF-A93C-B09A-F44E-13C4729567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8611" y="443611"/>
            <a:ext cx="8359093" cy="5970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33A3B0A-FD5A-DF26-7500-29A53F3C444F}"/>
              </a:ext>
            </a:extLst>
          </p:cNvPr>
          <p:cNvSpPr txBox="1"/>
          <p:nvPr/>
        </p:nvSpPr>
        <p:spPr>
          <a:xfrm>
            <a:off x="5647724" y="672035"/>
            <a:ext cx="526606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SARIMA Box-Cox Differenced Model</a:t>
            </a:r>
          </a:p>
        </p:txBody>
      </p:sp>
    </p:spTree>
    <p:extLst>
      <p:ext uri="{BB962C8B-B14F-4D97-AF65-F5344CB8AC3E}">
        <p14:creationId xmlns:p14="http://schemas.microsoft.com/office/powerpoint/2010/main" val="643277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4BF1E90C-C431-8FCD-E701-4AF66E2FE5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6071" y="527511"/>
            <a:ext cx="8124173" cy="580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B8554EF-6CAB-D320-EDD6-3F5FF69E2842}"/>
              </a:ext>
            </a:extLst>
          </p:cNvPr>
          <p:cNvSpPr txBox="1"/>
          <p:nvPr/>
        </p:nvSpPr>
        <p:spPr>
          <a:xfrm>
            <a:off x="5713824" y="727118"/>
            <a:ext cx="526606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ARFIMA Box-Cox Differenced Model</a:t>
            </a:r>
          </a:p>
        </p:txBody>
      </p:sp>
    </p:spTree>
    <p:extLst>
      <p:ext uri="{BB962C8B-B14F-4D97-AF65-F5344CB8AC3E}">
        <p14:creationId xmlns:p14="http://schemas.microsoft.com/office/powerpoint/2010/main" val="505314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>
            <a:extLst>
              <a:ext uri="{FF2B5EF4-FFF2-40B4-BE49-F238E27FC236}">
                <a16:creationId xmlns:a16="http://schemas.microsoft.com/office/drawing/2014/main" id="{0A6A9693-94A4-AA4F-E9E9-F85DAE9FE1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4961" y="441004"/>
            <a:ext cx="8366393" cy="5975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2B8E18-3E3F-6C80-AF75-533B8C25C1CA}"/>
              </a:ext>
            </a:extLst>
          </p:cNvPr>
          <p:cNvSpPr txBox="1"/>
          <p:nvPr/>
        </p:nvSpPr>
        <p:spPr>
          <a:xfrm>
            <a:off x="5669756" y="727117"/>
            <a:ext cx="525320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ARIMA Seasonal Differenced Model</a:t>
            </a:r>
          </a:p>
        </p:txBody>
      </p:sp>
    </p:spTree>
    <p:extLst>
      <p:ext uri="{BB962C8B-B14F-4D97-AF65-F5344CB8AC3E}">
        <p14:creationId xmlns:p14="http://schemas.microsoft.com/office/powerpoint/2010/main" val="3774256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>
            <a:extLst>
              <a:ext uri="{FF2B5EF4-FFF2-40B4-BE49-F238E27FC236}">
                <a16:creationId xmlns:a16="http://schemas.microsoft.com/office/drawing/2014/main" id="{5D04B678-2B9A-E26D-9AA0-C7DF12039F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0468" y="444937"/>
            <a:ext cx="8355376" cy="5968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8D9B8E1-20B2-EB4C-C744-DED24513FEE4}"/>
              </a:ext>
            </a:extLst>
          </p:cNvPr>
          <p:cNvSpPr txBox="1"/>
          <p:nvPr/>
        </p:nvSpPr>
        <p:spPr>
          <a:xfrm>
            <a:off x="5669756" y="727117"/>
            <a:ext cx="525320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SARIMA Seasonal Differenced Model</a:t>
            </a:r>
          </a:p>
        </p:txBody>
      </p:sp>
    </p:spTree>
    <p:extLst>
      <p:ext uri="{BB962C8B-B14F-4D97-AF65-F5344CB8AC3E}">
        <p14:creationId xmlns:p14="http://schemas.microsoft.com/office/powerpoint/2010/main" val="22716137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>
            <a:extLst>
              <a:ext uri="{FF2B5EF4-FFF2-40B4-BE49-F238E27FC236}">
                <a16:creationId xmlns:a16="http://schemas.microsoft.com/office/drawing/2014/main" id="{DE6DCF57-BBA3-A850-570A-ACC79D967E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8367" y="407722"/>
            <a:ext cx="8459578" cy="6042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E430AD4-27CC-810B-2649-6759E39477A5}"/>
              </a:ext>
            </a:extLst>
          </p:cNvPr>
          <p:cNvSpPr txBox="1"/>
          <p:nvPr/>
        </p:nvSpPr>
        <p:spPr>
          <a:xfrm>
            <a:off x="5669756" y="727117"/>
            <a:ext cx="525320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ARFIMA Seasonal Differenced Model</a:t>
            </a:r>
          </a:p>
        </p:txBody>
      </p:sp>
    </p:spTree>
    <p:extLst>
      <p:ext uri="{BB962C8B-B14F-4D97-AF65-F5344CB8AC3E}">
        <p14:creationId xmlns:p14="http://schemas.microsoft.com/office/powerpoint/2010/main" val="3256497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>
            <a:extLst>
              <a:ext uri="{FF2B5EF4-FFF2-40B4-BE49-F238E27FC236}">
                <a16:creationId xmlns:a16="http://schemas.microsoft.com/office/drawing/2014/main" id="{221870AD-8730-BE71-9DFB-B656C39E8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8267" y="350507"/>
            <a:ext cx="8619781" cy="6156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5304E5F-24B6-BCB8-6C67-832688BEBB28}"/>
              </a:ext>
            </a:extLst>
          </p:cNvPr>
          <p:cNvSpPr txBox="1"/>
          <p:nvPr/>
        </p:nvSpPr>
        <p:spPr>
          <a:xfrm>
            <a:off x="5481551" y="727114"/>
            <a:ext cx="525320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ARIMA First-Order Difference Forecast</a:t>
            </a:r>
          </a:p>
        </p:txBody>
      </p:sp>
    </p:spTree>
    <p:extLst>
      <p:ext uri="{BB962C8B-B14F-4D97-AF65-F5344CB8AC3E}">
        <p14:creationId xmlns:p14="http://schemas.microsoft.com/office/powerpoint/2010/main" val="5969997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>
            <a:extLst>
              <a:ext uri="{FF2B5EF4-FFF2-40B4-BE49-F238E27FC236}">
                <a16:creationId xmlns:a16="http://schemas.microsoft.com/office/drawing/2014/main" id="{685B505E-CE05-F800-FA10-9E5087E131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16" y="436756"/>
            <a:ext cx="8378283" cy="5984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6D8B704-6CB1-E7C5-B709-60D84FDC81BE}"/>
              </a:ext>
            </a:extLst>
          </p:cNvPr>
          <p:cNvSpPr txBox="1"/>
          <p:nvPr/>
        </p:nvSpPr>
        <p:spPr>
          <a:xfrm>
            <a:off x="5900192" y="793214"/>
            <a:ext cx="471613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SARIMA First-Order Difference Forecast</a:t>
            </a:r>
          </a:p>
        </p:txBody>
      </p:sp>
    </p:spTree>
    <p:extLst>
      <p:ext uri="{BB962C8B-B14F-4D97-AF65-F5344CB8AC3E}">
        <p14:creationId xmlns:p14="http://schemas.microsoft.com/office/powerpoint/2010/main" val="4137266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>
            <a:extLst>
              <a:ext uri="{FF2B5EF4-FFF2-40B4-BE49-F238E27FC236}">
                <a16:creationId xmlns:a16="http://schemas.microsoft.com/office/drawing/2014/main" id="{DF68EDEA-B97D-ADD5-631A-381D48718D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9196" y="551173"/>
            <a:ext cx="8057920" cy="5755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544801-4BB1-E26D-D125-148C5DB49AAC}"/>
              </a:ext>
            </a:extLst>
          </p:cNvPr>
          <p:cNvSpPr txBox="1"/>
          <p:nvPr/>
        </p:nvSpPr>
        <p:spPr>
          <a:xfrm>
            <a:off x="6021377" y="859316"/>
            <a:ext cx="471613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ARFIMA First-Order Difference Forecast</a:t>
            </a:r>
          </a:p>
        </p:txBody>
      </p:sp>
    </p:spTree>
    <p:extLst>
      <p:ext uri="{BB962C8B-B14F-4D97-AF65-F5344CB8AC3E}">
        <p14:creationId xmlns:p14="http://schemas.microsoft.com/office/powerpoint/2010/main" val="42731548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>
            <a:extLst>
              <a:ext uri="{FF2B5EF4-FFF2-40B4-BE49-F238E27FC236}">
                <a16:creationId xmlns:a16="http://schemas.microsoft.com/office/drawing/2014/main" id="{7112CDB2-14A3-FAC9-AFE0-1D02C28EE7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2333" y="381985"/>
            <a:ext cx="8531646" cy="6094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5D16ED7-77AE-E652-3EDB-D3B2EE9933E3}"/>
              </a:ext>
            </a:extLst>
          </p:cNvPr>
          <p:cNvSpPr txBox="1"/>
          <p:nvPr/>
        </p:nvSpPr>
        <p:spPr>
          <a:xfrm>
            <a:off x="6010361" y="771181"/>
            <a:ext cx="471613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ARIMA Box-Cox Differenced Forecast</a:t>
            </a:r>
          </a:p>
        </p:txBody>
      </p:sp>
    </p:spTree>
    <p:extLst>
      <p:ext uri="{BB962C8B-B14F-4D97-AF65-F5344CB8AC3E}">
        <p14:creationId xmlns:p14="http://schemas.microsoft.com/office/powerpoint/2010/main" val="21585223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2">
            <a:extLst>
              <a:ext uri="{FF2B5EF4-FFF2-40B4-BE49-F238E27FC236}">
                <a16:creationId xmlns:a16="http://schemas.microsoft.com/office/drawing/2014/main" id="{45B72552-E9A7-B289-AD36-2C0D594E63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3350" y="389853"/>
            <a:ext cx="8509612" cy="6078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BA1A8A9-C845-B2AA-B9E6-9734149DEE65}"/>
              </a:ext>
            </a:extLst>
          </p:cNvPr>
          <p:cNvSpPr txBox="1"/>
          <p:nvPr/>
        </p:nvSpPr>
        <p:spPr>
          <a:xfrm>
            <a:off x="6010361" y="771181"/>
            <a:ext cx="471613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SARIMA Box-Cox Differenced Forecast</a:t>
            </a:r>
          </a:p>
        </p:txBody>
      </p:sp>
    </p:spTree>
    <p:extLst>
      <p:ext uri="{BB962C8B-B14F-4D97-AF65-F5344CB8AC3E}">
        <p14:creationId xmlns:p14="http://schemas.microsoft.com/office/powerpoint/2010/main" val="1003771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>
            <a:extLst>
              <a:ext uri="{FF2B5EF4-FFF2-40B4-BE49-F238E27FC236}">
                <a16:creationId xmlns:a16="http://schemas.microsoft.com/office/drawing/2014/main" id="{8C6482A5-45DC-9860-7CF9-B3B755FE07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6826" y="378049"/>
            <a:ext cx="8542663" cy="610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BCDDEA4-0447-8955-6AAD-D8E5519A041A}"/>
              </a:ext>
            </a:extLst>
          </p:cNvPr>
          <p:cNvSpPr txBox="1"/>
          <p:nvPr/>
        </p:nvSpPr>
        <p:spPr>
          <a:xfrm>
            <a:off x="6010361" y="771181"/>
            <a:ext cx="471613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ARFIMA Box-Cox Differenced Forecast</a:t>
            </a:r>
          </a:p>
        </p:txBody>
      </p:sp>
    </p:spTree>
    <p:extLst>
      <p:ext uri="{BB962C8B-B14F-4D97-AF65-F5344CB8AC3E}">
        <p14:creationId xmlns:p14="http://schemas.microsoft.com/office/powerpoint/2010/main" val="7142455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6" name="Picture 2">
            <a:extLst>
              <a:ext uri="{FF2B5EF4-FFF2-40B4-BE49-F238E27FC236}">
                <a16:creationId xmlns:a16="http://schemas.microsoft.com/office/drawing/2014/main" id="{FB14D1B3-C335-9E66-B383-B00F5EAEA7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3689" y="547237"/>
            <a:ext cx="8068937" cy="5763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8163A2E-D725-A3E4-A86A-967C26AB8CBB}"/>
              </a:ext>
            </a:extLst>
          </p:cNvPr>
          <p:cNvSpPr txBox="1"/>
          <p:nvPr/>
        </p:nvSpPr>
        <p:spPr>
          <a:xfrm>
            <a:off x="6010361" y="870333"/>
            <a:ext cx="471613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ARIMA Seasonal Differenced Forecast</a:t>
            </a:r>
          </a:p>
        </p:txBody>
      </p:sp>
    </p:spTree>
    <p:extLst>
      <p:ext uri="{BB962C8B-B14F-4D97-AF65-F5344CB8AC3E}">
        <p14:creationId xmlns:p14="http://schemas.microsoft.com/office/powerpoint/2010/main" val="10391290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>
            <a:extLst>
              <a:ext uri="{FF2B5EF4-FFF2-40B4-BE49-F238E27FC236}">
                <a16:creationId xmlns:a16="http://schemas.microsoft.com/office/drawing/2014/main" id="{7BD6424A-7755-49CD-E651-D9C8CAFCD6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9877" y="401657"/>
            <a:ext cx="8476561" cy="60546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A4DE886-129B-86B3-9330-B720EE47CE9B}"/>
              </a:ext>
            </a:extLst>
          </p:cNvPr>
          <p:cNvSpPr txBox="1"/>
          <p:nvPr/>
        </p:nvSpPr>
        <p:spPr>
          <a:xfrm>
            <a:off x="6010361" y="782198"/>
            <a:ext cx="471613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SARIMA Seasonal Differenced Forecast</a:t>
            </a:r>
          </a:p>
        </p:txBody>
      </p:sp>
    </p:spTree>
    <p:extLst>
      <p:ext uri="{BB962C8B-B14F-4D97-AF65-F5344CB8AC3E}">
        <p14:creationId xmlns:p14="http://schemas.microsoft.com/office/powerpoint/2010/main" val="5738765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>
            <a:extLst>
              <a:ext uri="{FF2B5EF4-FFF2-40B4-BE49-F238E27FC236}">
                <a16:creationId xmlns:a16="http://schemas.microsoft.com/office/drawing/2014/main" id="{9D3FFBB3-9753-67DC-B43C-FD8CE4D463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8010" y="464610"/>
            <a:ext cx="8300292" cy="592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FB7C4A3-DB51-5219-0AFE-3125B199AE35}"/>
              </a:ext>
            </a:extLst>
          </p:cNvPr>
          <p:cNvSpPr txBox="1"/>
          <p:nvPr/>
        </p:nvSpPr>
        <p:spPr>
          <a:xfrm>
            <a:off x="6010361" y="782198"/>
            <a:ext cx="471613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ARFIMA Seasonal Differenced Forecast</a:t>
            </a:r>
          </a:p>
        </p:txBody>
      </p:sp>
    </p:spTree>
    <p:extLst>
      <p:ext uri="{BB962C8B-B14F-4D97-AF65-F5344CB8AC3E}">
        <p14:creationId xmlns:p14="http://schemas.microsoft.com/office/powerpoint/2010/main" val="34606411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</TotalTime>
  <Words>207</Words>
  <Application>Microsoft Macintosh PowerPoint</Application>
  <PresentationFormat>Custom</PresentationFormat>
  <Paragraphs>30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 Chaker</dc:creator>
  <cp:lastModifiedBy>Sara Chaker</cp:lastModifiedBy>
  <cp:revision>2</cp:revision>
  <dcterms:created xsi:type="dcterms:W3CDTF">2025-03-13T03:06:58Z</dcterms:created>
  <dcterms:modified xsi:type="dcterms:W3CDTF">2025-03-13T18:04:50Z</dcterms:modified>
</cp:coreProperties>
</file>